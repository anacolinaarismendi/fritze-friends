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63" r:id="rId7"/>
    <p:sldId id="260" r:id="rId8"/>
    <p:sldId id="267" r:id="rId9"/>
    <p:sldId id="264" r:id="rId10"/>
    <p:sldId id="261" r:id="rId11"/>
    <p:sldId id="262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95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CE40D-7CB9-A100-AF58-0D65506E716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37930A-68A8-43B7-FFBE-D7224B7F4F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CD73E-EE42-3D81-405E-55A34195C4F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A46B7C-EA78-45E3-94E1-BED3D2792642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F3E5A7-F805-8FD3-30CB-B66A9E9843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7041B8-B209-C7D6-AC74-0A21AE08BF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1BF291-ED6B-4A52-B218-33FBF2A01DCE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25520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715A8-8EDD-9B45-4B61-7F64B6D7D8F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5241C3-B3FF-B301-EEE4-0423C0BFB1F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2E7F19-3DCF-6336-AC9A-86CBE154F8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3EF462-25CE-4045-8C6A-EC0D98ED3E93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780F84-2C8D-4CEC-6639-FE4DC4E929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5A6E08-5645-2935-A677-FB143E8D01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6DF619-B185-4086-B42C-BD4D88A0EDE0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5986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4E50E-4250-EAC0-1853-356DEC834D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374C39-CD3F-2B52-B0D7-F1D48571B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4BD965-109F-9256-2B8C-7905A923091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88A226-B249-41E4-B241-468E3D68112F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59BEE9-0CBD-9BC4-5F56-80957C98665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65E585-F75B-ED26-005F-DAC9BAA4C1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65D6BF-3250-4FC2-9F69-D6534252EE81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51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9FB621-587D-5EBE-EB6B-912FD037512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C8B10F-F77C-875A-DEA4-E31CAEDD3C7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C8107D-FAE8-F12C-5200-CEEF2D905D7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8B53DB-87CF-9F41-169F-04095FD04FD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132E03-7FDB-4042-A84F-40035FB3450D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9C2032-8DFA-A2A1-586D-3B33741C38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00D4EA-0E57-0708-959E-2956FAB9D8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CD6701-1C45-4293-82B6-7480D2694AB5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935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AE510-FBE6-EDB3-34F0-B4CF32F07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2878ED-0CBC-C813-0934-B05ABD8D1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1495F8-CE89-7D18-0E67-E30B1F3A6F0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9DC1490-1336-20EE-2BD5-98D70041694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3B8F17-F0C0-3847-9F4B-F4CEFA5C443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36E5A25-EDA2-58C7-37C7-D9B3552093A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E88BD2-2E69-4DF2-B64F-19DF3F8E5DE4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53D89D9-4B44-4C04-8C10-3EDC863C0C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5F44FA9-BD46-4B23-71D5-320901B6BF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ABEF0F-F558-46E0-AF91-3FA5FFBE31E8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47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53840-F1E3-7871-7815-EC897E4D461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E4925E-55B5-682B-4193-B68272E3C49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47779D-B5FE-4D13-90C3-1DFCF94F9D87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199FD0-63EC-1B70-7E40-603328AB7F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901EA15-366B-2283-3580-A1ACE38F42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52F33B-0321-42AB-9D09-4BE83A8CCF45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67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81770B7-76E0-6672-6BF3-B33E6A83B6C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FBC65A-BE9D-4403-BB89-1EB7F018FE40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B53F48-E733-DD55-242D-4D79B36FA13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AAA729-7B23-EAF9-726E-C2AF0B203A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3E1758-D998-4BA5-BF1E-7A8C6C99287F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8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8CE0A-C5A1-6BAB-1194-4BC6E72A32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85C48B-F19C-0D97-9658-8859BFC4E5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A450A8-8348-0ADB-BF87-9BE0CA43DA3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85C97B-AAA0-0E8F-198B-119A450B2B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954736-8CE8-4BF1-9C2E-B4B83F280BC9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195911-FF74-7178-8755-A67F10D5B7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D0B4EF-3116-5D66-9C0D-6DC3A28DAE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CA3E0F-9CAB-4B9E-A815-3BB29DA6C2A4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02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1E565-1817-6D51-8FCC-23E7A8E4D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3A09E33-3D19-9762-2911-C29376E2ADD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65E38C-8DF9-8CD0-4619-A4A8785851B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B64748-B1C7-F895-467B-63A000EBE50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FF1E8F-87D5-47AA-BE03-2C2AFA2876BE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665AE9-C9F0-5D7C-154C-B426C59E637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63E5BF-4316-4A43-F364-8B2A0D8F5F1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4207CB-2883-4641-9615-FAB231BEEE58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88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09113-9C73-777A-FEA2-88F311F83BF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EB2E50-EA75-1C35-AF4C-4A6F95C8D75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E39F54-C109-4CB6-4D94-AFF4035648F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D54A46-77E8-461A-8310-D7021CCC7F9D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FDDFBC-2970-535A-FA60-F2186E6A9F1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9E8C4F-88E6-F62C-DC75-EF66B0D60A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5F7133-2753-46BF-AED6-A5E1D2351D79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55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0EFA92F-07E8-F1EA-FBCC-FD0EC1B918EF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88FC97-3D5A-5545-283E-12A26201131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4C12BF-76FE-8D3C-D626-97644ED0123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C382CA-44F3-4714-A9D0-E738841ED87E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D04A2F-0271-63E8-461B-77B550AA6F5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EB8E89-D37F-71BE-893E-448C9CBE28D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1FD3A4-3EF3-4C55-9659-7B180937A5D0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60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B7AFF1-6AA4-80F2-6718-8167BA284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1FBCC6-1ACB-E3E0-F7B9-BDABD581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36FCE-02AF-0E29-7185-D9B7F601835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811E49D8-B6C4-44F2-AEF3-8B22315D4ED2}" type="datetime1">
              <a:rPr lang="de-DE"/>
              <a:pPr lvl="0"/>
              <a:t>02.10.2026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03C631-2DD8-3375-D8F2-1B625F4E3D1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B35ED0-477A-682C-A98C-972DE7B8B4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1150435-F4F8-489B-9FF9-9BE4D5C3B1CD}" type="slidenum"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de-DE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08EF38-CF9E-9A99-1A0B-3363536C4BD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40153" y="3130174"/>
            <a:ext cx="9144000" cy="2387598"/>
          </a:xfrm>
        </p:spPr>
        <p:txBody>
          <a:bodyPr/>
          <a:lstStyle/>
          <a:p>
            <a:pPr lvl="0"/>
            <a:r>
              <a:rPr lang="de-DE" dirty="0"/>
              <a:t>Heizungstausch 2026/27 </a:t>
            </a:r>
            <a:br>
              <a:rPr lang="de-DE" dirty="0"/>
            </a:br>
            <a:r>
              <a:rPr lang="de-DE" dirty="0"/>
              <a:t>Hausprojekt Fritze</a:t>
            </a:r>
          </a:p>
        </p:txBody>
      </p:sp>
      <p:cxnSp>
        <p:nvCxnSpPr>
          <p:cNvPr id="3" name="Gerader Verbinder 4">
            <a:extLst>
              <a:ext uri="{FF2B5EF4-FFF2-40B4-BE49-F238E27FC236}">
                <a16:creationId xmlns:a16="http://schemas.microsoft.com/office/drawing/2014/main" id="{874282CD-F6D5-E86B-160E-00C816225B44}"/>
              </a:ext>
            </a:extLst>
          </p:cNvPr>
          <p:cNvCxnSpPr/>
          <p:nvPr/>
        </p:nvCxnSpPr>
        <p:spPr>
          <a:xfrm>
            <a:off x="1011161" y="3429000"/>
            <a:ext cx="9985824" cy="0"/>
          </a:xfrm>
          <a:prstGeom prst="straightConnector1">
            <a:avLst/>
          </a:prstGeom>
          <a:noFill/>
          <a:ln w="28575" cap="flat">
            <a:solidFill>
              <a:srgbClr val="C00000"/>
            </a:solidFill>
            <a:prstDash val="solid"/>
            <a:miter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233BD3-9D97-A0A9-09D2-6AA5C32F96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/>
              <a:t>Aktuelle Situation</a:t>
            </a:r>
          </a:p>
        </p:txBody>
      </p:sp>
      <p:cxnSp>
        <p:nvCxnSpPr>
          <p:cNvPr id="3" name="Gerader Verbinder 3">
            <a:extLst>
              <a:ext uri="{FF2B5EF4-FFF2-40B4-BE49-F238E27FC236}">
                <a16:creationId xmlns:a16="http://schemas.microsoft.com/office/drawing/2014/main" id="{ACAAE9AA-E7B7-C362-147D-D5CE9B702369}"/>
              </a:ext>
            </a:extLst>
          </p:cNvPr>
          <p:cNvCxnSpPr/>
          <p:nvPr/>
        </p:nvCxnSpPr>
        <p:spPr>
          <a:xfrm>
            <a:off x="754745" y="1372807"/>
            <a:ext cx="4736492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prstDash val="solid"/>
            <a:miter/>
          </a:ln>
        </p:spPr>
      </p:cxnSp>
      <p:cxnSp>
        <p:nvCxnSpPr>
          <p:cNvPr id="4" name="Gerader Verbinder 5">
            <a:extLst>
              <a:ext uri="{FF2B5EF4-FFF2-40B4-BE49-F238E27FC236}">
                <a16:creationId xmlns:a16="http://schemas.microsoft.com/office/drawing/2014/main" id="{8BDC4464-1357-3E13-297E-B7BE56002345}"/>
              </a:ext>
            </a:extLst>
          </p:cNvPr>
          <p:cNvCxnSpPr/>
          <p:nvPr/>
        </p:nvCxnSpPr>
        <p:spPr>
          <a:xfrm>
            <a:off x="5430758" y="1372807"/>
            <a:ext cx="2402120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custDash>
              <a:ds d="799921" sp="799921"/>
            </a:custDash>
            <a:miter/>
          </a:ln>
        </p:spPr>
      </p:cxnSp>
      <p:sp>
        <p:nvSpPr>
          <p:cNvPr id="5" name="Textfeld 8">
            <a:extLst>
              <a:ext uri="{FF2B5EF4-FFF2-40B4-BE49-F238E27FC236}">
                <a16:creationId xmlns:a16="http://schemas.microsoft.com/office/drawing/2014/main" id="{5EC34032-EEB4-2BCE-544C-58F2CA201A27}"/>
              </a:ext>
            </a:extLst>
          </p:cNvPr>
          <p:cNvSpPr txBox="1"/>
          <p:nvPr/>
        </p:nvSpPr>
        <p:spPr>
          <a:xfrm>
            <a:off x="1020836" y="1839909"/>
            <a:ext cx="9579428" cy="39703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Was ist kaputt?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Steuerung unserer Gastherme ist im Juli kaputt gegangen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Wingdings" pitchFamily="2"/>
              </a:rPr>
              <a:t>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Die Firma </a:t>
            </a:r>
            <a:r>
              <a:rPr lang="de-DE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Leichum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hat eine gebrauchte Steuerung eingebaut, wir wissen nicht, wie       	lange dies halten wird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 startAt="2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Der Dreiwegemischer (mischt Warmwasser und Kaltwasser auf Wunschtemperatur für         Heizung und Trinkwasser) ist zur gleichen Zeit kaputt gegangen.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Wingdings" pitchFamily="2"/>
              </a:rPr>
              <a:t>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aktuell können wir nur Warmwasser beziehen ODER heizen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Warmwasser beziehen ODER heizen und das auch nur so lange, wie die gebrauchte Steuerung der Therme hält.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2B5D-B990-EFA8-7FCA-5E48E38D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26F62-4A15-CB84-8C05-9216F7050C9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/>
              <a:t>Schnelle Lösung für den Winter 2026</a:t>
            </a:r>
          </a:p>
        </p:txBody>
      </p:sp>
      <p:cxnSp>
        <p:nvCxnSpPr>
          <p:cNvPr id="3" name="Gerader Verbinder 3">
            <a:extLst>
              <a:ext uri="{FF2B5EF4-FFF2-40B4-BE49-F238E27FC236}">
                <a16:creationId xmlns:a16="http://schemas.microsoft.com/office/drawing/2014/main" id="{83C9676B-6EB1-6EF3-93C9-8ABA880B586B}"/>
              </a:ext>
            </a:extLst>
          </p:cNvPr>
          <p:cNvCxnSpPr/>
          <p:nvPr/>
        </p:nvCxnSpPr>
        <p:spPr>
          <a:xfrm>
            <a:off x="754745" y="1372807"/>
            <a:ext cx="4736492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prstDash val="solid"/>
            <a:miter/>
          </a:ln>
        </p:spPr>
      </p:cxnSp>
      <p:cxnSp>
        <p:nvCxnSpPr>
          <p:cNvPr id="4" name="Gerader Verbinder 5">
            <a:extLst>
              <a:ext uri="{FF2B5EF4-FFF2-40B4-BE49-F238E27FC236}">
                <a16:creationId xmlns:a16="http://schemas.microsoft.com/office/drawing/2014/main" id="{307A9988-91B5-39DB-E463-81882BEEBDD2}"/>
              </a:ext>
            </a:extLst>
          </p:cNvPr>
          <p:cNvCxnSpPr/>
          <p:nvPr/>
        </p:nvCxnSpPr>
        <p:spPr>
          <a:xfrm>
            <a:off x="5430758" y="1372807"/>
            <a:ext cx="2402120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custDash>
              <a:ds d="799921" sp="799921"/>
            </a:custDash>
            <a:miter/>
          </a:ln>
        </p:spPr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5156D24C-1FEF-1C00-3425-020140AC7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025" y="1551539"/>
            <a:ext cx="5416063" cy="504777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1BD7DF6-619F-FBFE-FE44-FA4E0214F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56" y="2035558"/>
            <a:ext cx="5141869" cy="3513737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F3204B6-8D45-7854-E813-CA864E4BF39B}"/>
              </a:ext>
            </a:extLst>
          </p:cNvPr>
          <p:cNvSpPr txBox="1"/>
          <p:nvPr/>
        </p:nvSpPr>
        <p:spPr>
          <a:xfrm>
            <a:off x="754745" y="5751137"/>
            <a:ext cx="3191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Kosten: ca. 40.000,00 €</a:t>
            </a:r>
          </a:p>
          <a:p>
            <a:r>
              <a:rPr lang="de-DE" b="1" dirty="0"/>
              <a:t>ASAP!1312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65BBF99-C744-84F2-E552-7D5F4F64FD05}"/>
              </a:ext>
            </a:extLst>
          </p:cNvPr>
          <p:cNvSpPr txBox="1"/>
          <p:nvPr/>
        </p:nvSpPr>
        <p:spPr>
          <a:xfrm>
            <a:off x="877560" y="1493791"/>
            <a:ext cx="229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Neue Gasheizung</a:t>
            </a:r>
          </a:p>
        </p:txBody>
      </p:sp>
    </p:spTree>
    <p:extLst>
      <p:ext uri="{BB962C8B-B14F-4D97-AF65-F5344CB8AC3E}">
        <p14:creationId xmlns:p14="http://schemas.microsoft.com/office/powerpoint/2010/main" val="46566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72D6-49E2-E9ED-A74A-90E25968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DAFC59-10C6-55B3-A7A1-86FFB7F0542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/>
              <a:t>Schnelle Lösung für den Winter 2026</a:t>
            </a:r>
          </a:p>
        </p:txBody>
      </p:sp>
      <p:cxnSp>
        <p:nvCxnSpPr>
          <p:cNvPr id="3" name="Gerader Verbinder 3">
            <a:extLst>
              <a:ext uri="{FF2B5EF4-FFF2-40B4-BE49-F238E27FC236}">
                <a16:creationId xmlns:a16="http://schemas.microsoft.com/office/drawing/2014/main" id="{AD45FDDF-44E5-819D-2F3C-4F111746C9A4}"/>
              </a:ext>
            </a:extLst>
          </p:cNvPr>
          <p:cNvCxnSpPr/>
          <p:nvPr/>
        </p:nvCxnSpPr>
        <p:spPr>
          <a:xfrm>
            <a:off x="754745" y="1372807"/>
            <a:ext cx="4736492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prstDash val="solid"/>
            <a:miter/>
          </a:ln>
        </p:spPr>
      </p:cxnSp>
      <p:cxnSp>
        <p:nvCxnSpPr>
          <p:cNvPr id="4" name="Gerader Verbinder 5">
            <a:extLst>
              <a:ext uri="{FF2B5EF4-FFF2-40B4-BE49-F238E27FC236}">
                <a16:creationId xmlns:a16="http://schemas.microsoft.com/office/drawing/2014/main" id="{390F9BE9-BB22-EA65-7597-994A64BFB9A6}"/>
              </a:ext>
            </a:extLst>
          </p:cNvPr>
          <p:cNvCxnSpPr/>
          <p:nvPr/>
        </p:nvCxnSpPr>
        <p:spPr>
          <a:xfrm>
            <a:off x="5430758" y="1372807"/>
            <a:ext cx="2402120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custDash>
              <a:ds d="799921" sp="799921"/>
            </a:custDash>
            <a:miter/>
          </a:ln>
        </p:spPr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9BF7C3A0-3D1C-35D4-E24E-067A920AF26D}"/>
              </a:ext>
            </a:extLst>
          </p:cNvPr>
          <p:cNvSpPr txBox="1"/>
          <p:nvPr/>
        </p:nvSpPr>
        <p:spPr>
          <a:xfrm>
            <a:off x="838200" y="2436756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Kosten Anschaffung: ca. 40.000,00 €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73CC472-D374-E60C-6D98-8BBD34010755}"/>
              </a:ext>
            </a:extLst>
          </p:cNvPr>
          <p:cNvSpPr txBox="1"/>
          <p:nvPr/>
        </p:nvSpPr>
        <p:spPr>
          <a:xfrm>
            <a:off x="877560" y="1493791"/>
            <a:ext cx="369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u="sng" dirty="0"/>
              <a:t>Neue Gasheizung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9D3988D-673E-CC22-767A-74F70EE8FD2B}"/>
              </a:ext>
            </a:extLst>
          </p:cNvPr>
          <p:cNvSpPr txBox="1"/>
          <p:nvPr/>
        </p:nvSpPr>
        <p:spPr>
          <a:xfrm>
            <a:off x="838200" y="3137973"/>
            <a:ext cx="105156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800" b="1" dirty="0"/>
              <a:t>Kosten Verbrauch: 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dirty="0">
                <a:solidFill>
                  <a:srgbClr val="000000"/>
                </a:solidFill>
              </a:rPr>
              <a:t>Trend seit Jahr 2000 Verbrauch (hoch)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dirty="0">
                <a:solidFill>
                  <a:srgbClr val="000000"/>
                </a:solidFill>
              </a:rPr>
              <a:t>Für die Fritze </a:t>
            </a:r>
            <a:r>
              <a:rPr lang="de-DE" sz="2000" dirty="0">
                <a:solidFill>
                  <a:srgbClr val="000000"/>
                </a:solidFill>
              </a:rPr>
              <a:t>ergibt sich bei einem Verbrauch von jährlich </a:t>
            </a:r>
            <a:r>
              <a:rPr lang="en-GB" sz="2000" b="1" dirty="0">
                <a:solidFill>
                  <a:srgbClr val="000000"/>
                </a:solidFill>
              </a:rPr>
              <a:t>79.135 kWh</a:t>
            </a:r>
            <a:r>
              <a:rPr lang="de-DE" sz="2000" b="1" dirty="0">
                <a:solidFill>
                  <a:srgbClr val="000000"/>
                </a:solidFill>
              </a:rPr>
              <a:t> </a:t>
            </a:r>
            <a:r>
              <a:rPr lang="de-DE" sz="2000" dirty="0">
                <a:solidFill>
                  <a:srgbClr val="000000"/>
                </a:solidFill>
              </a:rPr>
              <a:t>durchschnittliche </a:t>
            </a:r>
            <a:r>
              <a:rPr lang="en-GB" sz="2000" dirty="0" err="1">
                <a:solidFill>
                  <a:srgbClr val="000000"/>
                </a:solidFill>
              </a:rPr>
              <a:t>jährliche</a:t>
            </a:r>
            <a:r>
              <a:rPr lang="en-GB" sz="2000" dirty="0">
                <a:solidFill>
                  <a:srgbClr val="000000"/>
                </a:solidFill>
              </a:rPr>
              <a:t> Kosten von </a:t>
            </a:r>
            <a:r>
              <a:rPr lang="en-GB" sz="2000" b="1" dirty="0">
                <a:solidFill>
                  <a:srgbClr val="000000"/>
                </a:solidFill>
              </a:rPr>
              <a:t>13.701,66 € (</a:t>
            </a:r>
            <a:r>
              <a:rPr lang="en-GB" sz="2000" b="1" dirty="0" err="1">
                <a:solidFill>
                  <a:srgbClr val="000000"/>
                </a:solidFill>
              </a:rPr>
              <a:t>kommt</a:t>
            </a:r>
            <a:r>
              <a:rPr lang="en-GB" sz="2000" b="1" dirty="0">
                <a:solidFill>
                  <a:srgbClr val="000000"/>
                </a:solidFill>
              </a:rPr>
              <a:t> </a:t>
            </a:r>
            <a:r>
              <a:rPr lang="en-GB" sz="2000" b="1" dirty="0" err="1">
                <a:solidFill>
                  <a:srgbClr val="000000"/>
                </a:solidFill>
              </a:rPr>
              <a:t>uns</a:t>
            </a:r>
            <a:r>
              <a:rPr lang="en-GB" sz="2000" b="1" dirty="0">
                <a:solidFill>
                  <a:srgbClr val="000000"/>
                </a:solidFill>
              </a:rPr>
              <a:t> </a:t>
            </a:r>
            <a:r>
              <a:rPr lang="en-GB" sz="2000" b="1" dirty="0" err="1">
                <a:solidFill>
                  <a:srgbClr val="000000"/>
                </a:solidFill>
              </a:rPr>
              <a:t>zu</a:t>
            </a:r>
            <a:r>
              <a:rPr lang="en-GB" sz="2000" b="1" dirty="0">
                <a:solidFill>
                  <a:srgbClr val="000000"/>
                </a:solidFill>
              </a:rPr>
              <a:t> </a:t>
            </a:r>
            <a:r>
              <a:rPr lang="en-GB" sz="2000" b="1" dirty="0" err="1">
                <a:solidFill>
                  <a:srgbClr val="000000"/>
                </a:solidFill>
              </a:rPr>
              <a:t>niedrig</a:t>
            </a:r>
            <a:r>
              <a:rPr lang="en-GB" sz="2000" b="1" dirty="0">
                <a:solidFill>
                  <a:srgbClr val="000000"/>
                </a:solidFill>
              </a:rPr>
              <a:t> </a:t>
            </a:r>
            <a:r>
              <a:rPr lang="en-GB" sz="2000" b="1" dirty="0" err="1">
                <a:solidFill>
                  <a:srgbClr val="000000"/>
                </a:solidFill>
              </a:rPr>
              <a:t>vor</a:t>
            </a:r>
            <a:r>
              <a:rPr lang="en-GB" sz="2000" b="1" dirty="0">
                <a:solidFill>
                  <a:srgbClr val="000000"/>
                </a:solidFill>
              </a:rPr>
              <a:t>)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800" b="1" dirty="0">
              <a:solidFill>
                <a:srgbClr val="000000"/>
              </a:solidFill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1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GB" sz="2800" b="1" dirty="0">
                <a:solidFill>
                  <a:srgbClr val="000000"/>
                </a:solidFill>
              </a:rPr>
              <a:t>Prognose: 13.000 - 16.000€ </a:t>
            </a:r>
            <a:r>
              <a:rPr lang="en-GB" sz="2800" b="1" dirty="0">
                <a:solidFill>
                  <a:srgbClr val="FF0000"/>
                </a:solidFill>
              </a:rPr>
              <a:t>?  </a:t>
            </a:r>
            <a:r>
              <a:rPr lang="en-GB" sz="2800" b="1" dirty="0">
                <a:sym typeface="Wingdings" panose="05000000000000000000" pitchFamily="2" charset="2"/>
              </a:rPr>
              <a:t></a:t>
            </a:r>
            <a:r>
              <a:rPr lang="en-GB" sz="2800" b="1" dirty="0">
                <a:solidFill>
                  <a:srgbClr val="FF0000"/>
                </a:solidFill>
              </a:rPr>
              <a:t> </a:t>
            </a:r>
            <a:r>
              <a:rPr lang="en-GB" sz="2800" b="1" dirty="0" err="1"/>
              <a:t>Durchschnitt</a:t>
            </a:r>
            <a:r>
              <a:rPr lang="en-GB" sz="2800" b="1" dirty="0"/>
              <a:t>: 14.500 €/Jahr</a:t>
            </a:r>
          </a:p>
          <a:p>
            <a:r>
              <a:rPr lang="de-DE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830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B3E74-A577-0767-9D1C-5667F65FADC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/>
              <a:t>Langfristige Lösung: 2 Optionen</a:t>
            </a:r>
          </a:p>
        </p:txBody>
      </p:sp>
      <p:cxnSp>
        <p:nvCxnSpPr>
          <p:cNvPr id="3" name="Gerader Verbinder 3">
            <a:extLst>
              <a:ext uri="{FF2B5EF4-FFF2-40B4-BE49-F238E27FC236}">
                <a16:creationId xmlns:a16="http://schemas.microsoft.com/office/drawing/2014/main" id="{20F101E3-FACF-17DD-EC9D-B37BF36A84F0}"/>
              </a:ext>
            </a:extLst>
          </p:cNvPr>
          <p:cNvCxnSpPr/>
          <p:nvPr/>
        </p:nvCxnSpPr>
        <p:spPr>
          <a:xfrm>
            <a:off x="754745" y="1372807"/>
            <a:ext cx="4736492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prstDash val="solid"/>
            <a:miter/>
          </a:ln>
        </p:spPr>
      </p:cxnSp>
      <p:cxnSp>
        <p:nvCxnSpPr>
          <p:cNvPr id="4" name="Gerader Verbinder 5">
            <a:extLst>
              <a:ext uri="{FF2B5EF4-FFF2-40B4-BE49-F238E27FC236}">
                <a16:creationId xmlns:a16="http://schemas.microsoft.com/office/drawing/2014/main" id="{4D047505-FF02-80E0-2E74-35D23B6FD2D6}"/>
              </a:ext>
            </a:extLst>
          </p:cNvPr>
          <p:cNvCxnSpPr/>
          <p:nvPr/>
        </p:nvCxnSpPr>
        <p:spPr>
          <a:xfrm>
            <a:off x="5430758" y="1372807"/>
            <a:ext cx="2402120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custDash>
              <a:ds d="799921" sp="799921"/>
            </a:custDash>
            <a:miter/>
          </a:ln>
        </p:spPr>
      </p:cxnSp>
      <p:sp>
        <p:nvSpPr>
          <p:cNvPr id="5" name="Textfeld 8">
            <a:extLst>
              <a:ext uri="{FF2B5EF4-FFF2-40B4-BE49-F238E27FC236}">
                <a16:creationId xmlns:a16="http://schemas.microsoft.com/office/drawing/2014/main" id="{1F6993AE-A7E4-E611-9679-6C8E2BD88E5B}"/>
              </a:ext>
            </a:extLst>
          </p:cNvPr>
          <p:cNvSpPr txBox="1"/>
          <p:nvPr/>
        </p:nvSpPr>
        <p:spPr>
          <a:xfrm>
            <a:off x="385482" y="1502688"/>
            <a:ext cx="5521836" cy="4708981"/>
          </a:xfrm>
          <a:prstGeom prst="rect">
            <a:avLst/>
          </a:prstGeom>
          <a:noFill/>
          <a:ln w="28575" cap="flat">
            <a:solidFill>
              <a:srgbClr val="8FAAD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Option 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Hybrid: Gas + Wärmepumpe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Hybrid heißt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Ein </a:t>
            </a:r>
            <a:r>
              <a:rPr lang="de-DE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Gaskessel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(Betrieb mit Gas) befindet sich im Heizungskeller.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Wingdings" pitchFamily="2"/>
              </a:rPr>
              <a:t>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Für Warmwasseraufbereitung (bis Anschaffung der Wärmepumpe heizt er auch + Unterstützt an kalten Tagen) </a:t>
            </a:r>
            <a:endParaRPr lang="de-DE" dirty="0">
              <a:solidFill>
                <a:srgbClr val="000000"/>
              </a:solidFill>
              <a:latin typeface="Calibri"/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dirty="0">
              <a:solidFill>
                <a:srgbClr val="000000"/>
              </a:solidFill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Eine </a:t>
            </a:r>
            <a:r>
              <a:rPr lang="de-DE" sz="1800" b="1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Wärmepumpe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(Betrieb mit Strom) befindet sich draußen</a:t>
            </a:r>
            <a:r>
              <a:rPr lang="de-DE" dirty="0">
                <a:solidFill>
                  <a:srgbClr val="000000"/>
                </a:solidFill>
                <a:latin typeface="Calibri"/>
              </a:rPr>
              <a:t>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sym typeface="Wingdings" panose="05000000000000000000" pitchFamily="2" charset="2"/>
              </a:rPr>
              <a:t>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Zum Heizen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à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Anschaffung Gastherme Herbst 2026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Anschaffung Wärmepumpe im Laufe des Jahres 2027</a:t>
            </a:r>
          </a:p>
        </p:txBody>
      </p:sp>
      <p:sp>
        <p:nvSpPr>
          <p:cNvPr id="6" name="Textfeld 2">
            <a:extLst>
              <a:ext uri="{FF2B5EF4-FFF2-40B4-BE49-F238E27FC236}">
                <a16:creationId xmlns:a16="http://schemas.microsoft.com/office/drawing/2014/main" id="{4C5B0EDE-BA8E-A559-7679-AD7BB241F521}"/>
              </a:ext>
            </a:extLst>
          </p:cNvPr>
          <p:cNvSpPr txBox="1"/>
          <p:nvPr/>
        </p:nvSpPr>
        <p:spPr>
          <a:xfrm>
            <a:off x="6096000" y="1519462"/>
            <a:ext cx="5341261" cy="3323987"/>
          </a:xfrm>
          <a:prstGeom prst="rect">
            <a:avLst/>
          </a:prstGeom>
          <a:noFill/>
          <a:ln w="28575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Option 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Gas (+ in ca. 5 Jahren Fernwärme)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Ein </a:t>
            </a:r>
            <a:r>
              <a:rPr lang="de-DE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Gaskessel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(Betrieb mit Gas) befindet sich im Heizungskeller.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sym typeface="Wingdings" panose="05000000000000000000" pitchFamily="2" charset="2"/>
              </a:rPr>
              <a:t>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Für Warmwasser und Heizung für mindestens 5 Jahre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/>
              <a:buChar char="à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Ab 2031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Anschluss ans kommunale </a:t>
            </a:r>
            <a:r>
              <a:rPr lang="de-DE" sz="1800" b="1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Fernwärmenetz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. Diese befindet sich bereits im Ausbau (Bockenheimer Warte).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6F9CC-486D-D24D-C497-75EC94A4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8D7E0-427A-6629-AAF4-07868C63EA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40939"/>
            <a:ext cx="10515600" cy="1325559"/>
          </a:xfrm>
        </p:spPr>
        <p:txBody>
          <a:bodyPr>
            <a:normAutofit/>
          </a:bodyPr>
          <a:lstStyle/>
          <a:p>
            <a:r>
              <a:rPr lang="de-DE" dirty="0"/>
              <a:t>Lösung: Option 1 </a:t>
            </a:r>
            <a:r>
              <a:rPr lang="de-DE" sz="3200" dirty="0">
                <a:latin typeface="Calibri"/>
              </a:rPr>
              <a:t>Hybrid Gas + Wärmepumpe</a:t>
            </a:r>
            <a:br>
              <a:rPr lang="de-DE" b="1" dirty="0">
                <a:latin typeface="Calibri"/>
              </a:rPr>
            </a:br>
            <a:endParaRPr lang="de-DE" dirty="0"/>
          </a:p>
        </p:txBody>
      </p:sp>
      <p:cxnSp>
        <p:nvCxnSpPr>
          <p:cNvPr id="3" name="Gerader Verbinder 3">
            <a:extLst>
              <a:ext uri="{FF2B5EF4-FFF2-40B4-BE49-F238E27FC236}">
                <a16:creationId xmlns:a16="http://schemas.microsoft.com/office/drawing/2014/main" id="{E111881F-F7F9-231B-6F30-88ABC1B0C926}"/>
              </a:ext>
            </a:extLst>
          </p:cNvPr>
          <p:cNvCxnSpPr/>
          <p:nvPr/>
        </p:nvCxnSpPr>
        <p:spPr>
          <a:xfrm>
            <a:off x="754745" y="1111555"/>
            <a:ext cx="4736492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prstDash val="solid"/>
            <a:miter/>
          </a:ln>
        </p:spPr>
      </p:cxnSp>
      <p:cxnSp>
        <p:nvCxnSpPr>
          <p:cNvPr id="4" name="Gerader Verbinder 5">
            <a:extLst>
              <a:ext uri="{FF2B5EF4-FFF2-40B4-BE49-F238E27FC236}">
                <a16:creationId xmlns:a16="http://schemas.microsoft.com/office/drawing/2014/main" id="{79030A8D-1341-D1C0-9C32-7D2D133F362B}"/>
              </a:ext>
            </a:extLst>
          </p:cNvPr>
          <p:cNvCxnSpPr/>
          <p:nvPr/>
        </p:nvCxnSpPr>
        <p:spPr>
          <a:xfrm>
            <a:off x="5430758" y="1111555"/>
            <a:ext cx="2402120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custDash>
              <a:ds d="799921" sp="799921"/>
            </a:custDash>
            <a:miter/>
          </a:ln>
        </p:spPr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4C9A4B97-4F74-AC87-8A4E-5BEF32CF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5" y="1487355"/>
            <a:ext cx="4091945" cy="27508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5277D88-C520-A61A-D73A-F76F14826CCB}"/>
              </a:ext>
            </a:extLst>
          </p:cNvPr>
          <p:cNvSpPr txBox="1"/>
          <p:nvPr/>
        </p:nvSpPr>
        <p:spPr>
          <a:xfrm>
            <a:off x="877202" y="4983238"/>
            <a:ext cx="1901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Luft-Wärmepumpe von Vaillant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D403655-5724-272D-23BC-A277E20A3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258" y="2937324"/>
            <a:ext cx="7313713" cy="34536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8340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8">
            <a:extLst>
              <a:ext uri="{FF2B5EF4-FFF2-40B4-BE49-F238E27FC236}">
                <a16:creationId xmlns:a16="http://schemas.microsoft.com/office/drawing/2014/main" id="{E672DBF2-087C-FBE3-0595-335CD9B8C33E}"/>
              </a:ext>
            </a:extLst>
          </p:cNvPr>
          <p:cNvSpPr txBox="1"/>
          <p:nvPr/>
        </p:nvSpPr>
        <p:spPr>
          <a:xfrm>
            <a:off x="791306" y="313897"/>
            <a:ext cx="9949482" cy="7032694"/>
          </a:xfrm>
          <a:prstGeom prst="rect">
            <a:avLst/>
          </a:prstGeom>
          <a:noFill/>
          <a:ln w="28575" cap="flat">
            <a:solidFill>
              <a:srgbClr val="8FAAD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Option 1: Hybrid Gas + Wärmepumpe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u="sng" dirty="0">
                <a:solidFill>
                  <a:srgbClr val="000000"/>
                </a:solidFill>
              </a:rPr>
              <a:t>Kosten </a:t>
            </a:r>
            <a:r>
              <a:rPr lang="de-DE" b="1" u="sng" dirty="0">
                <a:solidFill>
                  <a:srgbClr val="000000"/>
                </a:solidFill>
              </a:rPr>
              <a:t>Anschaffung</a:t>
            </a:r>
            <a:r>
              <a:rPr lang="en-GB" b="1" u="sng" dirty="0">
                <a:solidFill>
                  <a:srgbClr val="000000"/>
                </a:solidFill>
              </a:rPr>
              <a:t>: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rgbClr val="000000"/>
                </a:solidFill>
              </a:rPr>
              <a:t>2026 </a:t>
            </a:r>
            <a:r>
              <a:rPr lang="de-DE" dirty="0">
                <a:solidFill>
                  <a:srgbClr val="000000"/>
                </a:solidFill>
              </a:rPr>
              <a:t>Gastherme</a:t>
            </a:r>
            <a:r>
              <a:rPr lang="en-GB" dirty="0">
                <a:solidFill>
                  <a:srgbClr val="000000"/>
                </a:solidFill>
              </a:rPr>
              <a:t>: ca. 40.000,00 €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dirty="0">
                <a:solidFill>
                  <a:srgbClr val="000000"/>
                </a:solidFill>
              </a:rPr>
              <a:t>2027 Wärmepumpe: ca. 50.000,00 €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dirty="0">
                <a:solidFill>
                  <a:srgbClr val="000000"/>
                </a:solidFill>
              </a:rPr>
              <a:t>+ Kosten Elektrik 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dirty="0">
                <a:solidFill>
                  <a:srgbClr val="000000"/>
                </a:solidFill>
              </a:rPr>
              <a:t>+ Kosten Schallschutz (potenziell)    </a:t>
            </a:r>
            <a:r>
              <a:rPr lang="de-DE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000000"/>
                </a:solidFill>
                <a:sym typeface="Wingdings" panose="05000000000000000000" pitchFamily="2" charset="2"/>
              </a:rPr>
              <a:t>TOTAL 90.000€ - 110.000€ (?)</a:t>
            </a:r>
            <a:endParaRPr lang="de-DE" b="1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sng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Kosten Verbrauch</a:t>
            </a:r>
            <a:r>
              <a:rPr lang="de-DE" b="1" u="sng" dirty="0">
                <a:solidFill>
                  <a:srgbClr val="000000"/>
                </a:solidFill>
                <a:latin typeface="Calibri"/>
              </a:rPr>
              <a:t> (Prognose) </a:t>
            </a: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Gaskosten: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Warmwasser</a:t>
            </a:r>
            <a:r>
              <a:rPr lang="de-DE" dirty="0">
                <a:solidFill>
                  <a:srgbClr val="000000"/>
                </a:solidFill>
                <a:latin typeface="Calibri"/>
              </a:rPr>
              <a:t> </a:t>
            </a:r>
            <a:r>
              <a:rPr lang="de-DE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 </a:t>
            </a:r>
            <a:r>
              <a:rPr lang="de-DE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Gas: ca. </a:t>
            </a:r>
            <a:r>
              <a:rPr lang="de-DE" dirty="0">
                <a:solidFill>
                  <a:srgbClr val="000000"/>
                </a:solidFill>
                <a:latin typeface="Calibri"/>
              </a:rPr>
              <a:t>3000</a:t>
            </a:r>
            <a:r>
              <a:rPr lang="de-DE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kWh (über </a:t>
            </a:r>
            <a:r>
              <a:rPr lang="de-DE" b="0" i="0" u="none" strike="noStrike" kern="1200" cap="none" spc="0" baseline="0" dirty="0">
                <a:solidFill>
                  <a:srgbClr val="FF0000"/>
                </a:solidFill>
                <a:uFillTx/>
                <a:latin typeface="Calibri"/>
              </a:rPr>
              <a:t>KI</a:t>
            </a:r>
            <a:r>
              <a:rPr lang="de-DE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ermitteln, unklar)</a:t>
            </a:r>
            <a:endParaRPr lang="de-DE" dirty="0">
              <a:solidFill>
                <a:srgbClr val="000000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dirty="0" err="1">
                <a:solidFill>
                  <a:srgbClr val="000000"/>
                </a:solidFill>
                <a:latin typeface="Calibri"/>
              </a:rPr>
              <a:t>Zuheizen</a:t>
            </a:r>
            <a:r>
              <a:rPr lang="de-DE" dirty="0">
                <a:solidFill>
                  <a:srgbClr val="000000"/>
                </a:solidFill>
                <a:latin typeface="Calibri"/>
              </a:rPr>
              <a:t> </a:t>
            </a:r>
            <a:r>
              <a:rPr lang="de-DE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0000"/>
                </a:solidFill>
                <a:latin typeface="Calibri"/>
              </a:rPr>
              <a:t>Gas: ca. 9000 kWh </a:t>
            </a:r>
            <a:r>
              <a:rPr lang="de-DE" dirty="0">
                <a:solidFill>
                  <a:srgbClr val="000000"/>
                </a:solidFill>
              </a:rPr>
              <a:t>(über </a:t>
            </a:r>
            <a:r>
              <a:rPr lang="de-DE" dirty="0">
                <a:solidFill>
                  <a:srgbClr val="FF0000"/>
                </a:solidFill>
              </a:rPr>
              <a:t>KI</a:t>
            </a:r>
            <a:r>
              <a:rPr lang="de-DE" dirty="0">
                <a:solidFill>
                  <a:srgbClr val="000000"/>
                </a:solidFill>
              </a:rPr>
              <a:t> ermitteln, unklar)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b="1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de-DE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2200,00 € (20,25 ct/kWh)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Stromkosten: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dirty="0">
                <a:solidFill>
                  <a:srgbClr val="000000"/>
                </a:solidFill>
                <a:latin typeface="Calibri"/>
              </a:rPr>
              <a:t>Wärmepumpe verbraucht viel </a:t>
            </a:r>
            <a:r>
              <a:rPr lang="de-DE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Strom: ca</a:t>
            </a:r>
            <a:r>
              <a:rPr lang="de-DE" dirty="0">
                <a:solidFill>
                  <a:srgbClr val="000000"/>
                </a:solidFill>
                <a:latin typeface="Calibri"/>
              </a:rPr>
              <a:t>. </a:t>
            </a:r>
            <a:r>
              <a:rPr lang="de-DE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67000 kWh</a:t>
            </a:r>
            <a:r>
              <a:rPr lang="de-DE" dirty="0">
                <a:solidFill>
                  <a:srgbClr val="000000"/>
                </a:solidFill>
              </a:rPr>
              <a:t> (über </a:t>
            </a:r>
            <a:r>
              <a:rPr lang="de-DE" dirty="0">
                <a:solidFill>
                  <a:srgbClr val="FF0000"/>
                </a:solidFill>
              </a:rPr>
              <a:t>KI</a:t>
            </a:r>
            <a:r>
              <a:rPr lang="de-DE" dirty="0">
                <a:solidFill>
                  <a:srgbClr val="000000"/>
                </a:solidFill>
              </a:rPr>
              <a:t> ermitteln, unklar)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b="1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000000"/>
                </a:solidFill>
              </a:rPr>
              <a:t>6100,00 € (32 ct/kWh)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i="0" strike="noStrike" kern="1200" cap="none" spc="0" baseline="0" dirty="0">
                <a:solidFill>
                  <a:srgbClr val="000000"/>
                </a:solidFill>
                <a:uFillTx/>
                <a:latin typeface="Calibri"/>
                <a:sym typeface="Wingdings" panose="05000000000000000000" pitchFamily="2" charset="2"/>
              </a:rPr>
              <a:t> </a:t>
            </a:r>
            <a:r>
              <a:rPr lang="de-DE" sz="2000" b="1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Für die Fritze </a:t>
            </a:r>
            <a:r>
              <a:rPr lang="de-DE" sz="2000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ergibt sich bei einem Verbrauch von jährlich </a:t>
            </a:r>
            <a:r>
              <a:rPr lang="en-GB" sz="2000" b="1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79.135 kWh</a:t>
            </a:r>
            <a:r>
              <a:rPr lang="de-DE" sz="2000" b="1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de-DE" sz="2000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durchschnittliche </a:t>
            </a:r>
            <a:r>
              <a:rPr lang="en-GB" sz="2000" i="0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jährliche</a:t>
            </a:r>
            <a:r>
              <a:rPr lang="en-GB" sz="2000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Kosten von </a:t>
            </a:r>
            <a:r>
              <a:rPr lang="en-GB" sz="2000" b="1" dirty="0">
                <a:solidFill>
                  <a:srgbClr val="000000"/>
                </a:solidFill>
                <a:latin typeface="Calibri"/>
              </a:rPr>
              <a:t>8300,00</a:t>
            </a:r>
            <a:r>
              <a:rPr lang="en-GB" sz="2000" b="1" i="0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€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CE8C-15A2-B430-6514-B25F79C8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8">
            <a:extLst>
              <a:ext uri="{FF2B5EF4-FFF2-40B4-BE49-F238E27FC236}">
                <a16:creationId xmlns:a16="http://schemas.microsoft.com/office/drawing/2014/main" id="{83DBA838-386E-9E2A-7318-7E25AC883755}"/>
              </a:ext>
            </a:extLst>
          </p:cNvPr>
          <p:cNvSpPr txBox="1"/>
          <p:nvPr/>
        </p:nvSpPr>
        <p:spPr>
          <a:xfrm>
            <a:off x="857549" y="258615"/>
            <a:ext cx="9887855" cy="6555641"/>
          </a:xfrm>
          <a:prstGeom prst="rect">
            <a:avLst/>
          </a:prstGeom>
          <a:noFill/>
          <a:ln w="28575" cap="flat">
            <a:solidFill>
              <a:srgbClr val="8FAAD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Option 1: Hybrid Gas + Wärmepumpe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sng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Amortisationsrechnung: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DC66DB-CF25-1065-5D1C-6CE454C68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148" y="1593065"/>
            <a:ext cx="7096157" cy="489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6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CC1A-C668-5487-74DE-9FB84DE8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A03B4B-8F0C-753F-1AA8-CC1DDC67E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671708"/>
          </a:xfrm>
        </p:spPr>
        <p:txBody>
          <a:bodyPr>
            <a:normAutofit fontScale="90000"/>
          </a:bodyPr>
          <a:lstStyle/>
          <a:p>
            <a:r>
              <a:rPr lang="de-DE" dirty="0"/>
              <a:t>Lösung: </a:t>
            </a:r>
            <a:r>
              <a:rPr lang="de-DE" sz="4000" dirty="0">
                <a:latin typeface="Calibri"/>
              </a:rPr>
              <a:t>Option 2: Gas (+ in ca. 5 Jahren Fernwärme)</a:t>
            </a:r>
            <a:br>
              <a:rPr lang="de-DE" b="1" dirty="0">
                <a:latin typeface="Calibri"/>
              </a:rPr>
            </a:br>
            <a:br>
              <a:rPr lang="de-DE" b="1" dirty="0">
                <a:latin typeface="Calibri"/>
              </a:rPr>
            </a:br>
            <a:endParaRPr lang="de-DE" dirty="0"/>
          </a:p>
        </p:txBody>
      </p:sp>
      <p:cxnSp>
        <p:nvCxnSpPr>
          <p:cNvPr id="3" name="Gerader Verbinder 3">
            <a:extLst>
              <a:ext uri="{FF2B5EF4-FFF2-40B4-BE49-F238E27FC236}">
                <a16:creationId xmlns:a16="http://schemas.microsoft.com/office/drawing/2014/main" id="{778BF477-60AA-79D5-4FDF-9C131B15CC7F}"/>
              </a:ext>
            </a:extLst>
          </p:cNvPr>
          <p:cNvCxnSpPr/>
          <p:nvPr/>
        </p:nvCxnSpPr>
        <p:spPr>
          <a:xfrm>
            <a:off x="754745" y="1140583"/>
            <a:ext cx="4736492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prstDash val="solid"/>
            <a:miter/>
          </a:ln>
        </p:spPr>
      </p:cxnSp>
      <p:cxnSp>
        <p:nvCxnSpPr>
          <p:cNvPr id="4" name="Gerader Verbinder 5">
            <a:extLst>
              <a:ext uri="{FF2B5EF4-FFF2-40B4-BE49-F238E27FC236}">
                <a16:creationId xmlns:a16="http://schemas.microsoft.com/office/drawing/2014/main" id="{9E4AA95D-4F63-4E3D-C062-95B6EA6AEE63}"/>
              </a:ext>
            </a:extLst>
          </p:cNvPr>
          <p:cNvCxnSpPr/>
          <p:nvPr/>
        </p:nvCxnSpPr>
        <p:spPr>
          <a:xfrm>
            <a:off x="5430758" y="1140583"/>
            <a:ext cx="2402120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custDash>
              <a:ds d="799921" sp="799921"/>
            </a:custDash>
            <a:miter/>
          </a:ln>
        </p:spPr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43440EFE-EC55-53A1-CEF2-E8DC9F7A4B18}"/>
              </a:ext>
            </a:extLst>
          </p:cNvPr>
          <p:cNvSpPr txBox="1"/>
          <p:nvPr/>
        </p:nvSpPr>
        <p:spPr>
          <a:xfrm>
            <a:off x="7296435" y="5418667"/>
            <a:ext cx="190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Fernwärme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95A1F2F-7046-89BE-D458-4A8CF08E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81"/>
          <a:stretch>
            <a:fillRect/>
          </a:stretch>
        </p:blipFill>
        <p:spPr>
          <a:xfrm>
            <a:off x="882331" y="1320801"/>
            <a:ext cx="6345784" cy="53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870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2">
            <a:extLst>
              <a:ext uri="{FF2B5EF4-FFF2-40B4-BE49-F238E27FC236}">
                <a16:creationId xmlns:a16="http://schemas.microsoft.com/office/drawing/2014/main" id="{285DBDB5-A972-2164-426C-9B88C679C89F}"/>
              </a:ext>
            </a:extLst>
          </p:cNvPr>
          <p:cNvSpPr txBox="1"/>
          <p:nvPr/>
        </p:nvSpPr>
        <p:spPr>
          <a:xfrm>
            <a:off x="688214" y="611797"/>
            <a:ext cx="10884505" cy="5309146"/>
          </a:xfrm>
          <a:prstGeom prst="rect">
            <a:avLst/>
          </a:prstGeom>
          <a:noFill/>
          <a:ln w="28575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Option 2: Gas (+ in ca. 5 Jahren Fernwärme)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sng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Prognose Kosten Verbrauch: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sng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79.000 kWh x 18 ct/kWh = 14.220,00 €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Für die Fritze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ergibt sich bei einem Verbrauch von jährlich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79.135 kWh</a:t>
            </a:r>
            <a:r>
              <a:rPr lang="de-DE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de-DE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durchschnittliche 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jährliche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Kosten von 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13.701,66 €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sng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Kosten </a:t>
            </a:r>
            <a:r>
              <a:rPr lang="en-GB" sz="1800" b="1" i="0" u="sng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Anschaffung</a:t>
            </a:r>
            <a:r>
              <a:rPr lang="en-GB" sz="1800" b="1" i="0" u="sng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2026 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Gastherme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: 40.000 €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2031 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Fernwärmeanschluss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: 15.000 €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sng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Amortisationsrechnung</a:t>
            </a:r>
            <a:r>
              <a:rPr lang="en-GB" sz="1800" b="1" i="0" u="sng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1" u="sng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1" i="0" u="sng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3">
            <a:extLst>
              <a:ext uri="{FF2B5EF4-FFF2-40B4-BE49-F238E27FC236}">
                <a16:creationId xmlns:a16="http://schemas.microsoft.com/office/drawing/2014/main" id="{03820AE7-1A4C-F667-B49D-9CA30FCCD83F}"/>
              </a:ext>
            </a:extLst>
          </p:cNvPr>
          <p:cNvGrpSpPr/>
          <p:nvPr/>
        </p:nvGrpSpPr>
        <p:grpSpPr>
          <a:xfrm>
            <a:off x="778931" y="553056"/>
            <a:ext cx="9695538" cy="2031321"/>
            <a:chOff x="778931" y="553056"/>
            <a:chExt cx="9695538" cy="2031321"/>
          </a:xfrm>
        </p:grpSpPr>
        <p:sp>
          <p:nvSpPr>
            <p:cNvPr id="3" name="Textfeld 8">
              <a:extLst>
                <a:ext uri="{FF2B5EF4-FFF2-40B4-BE49-F238E27FC236}">
                  <a16:creationId xmlns:a16="http://schemas.microsoft.com/office/drawing/2014/main" id="{9FC58909-57F8-7B50-DAE3-BEA338A20099}"/>
                </a:ext>
              </a:extLst>
            </p:cNvPr>
            <p:cNvSpPr txBox="1"/>
            <p:nvPr/>
          </p:nvSpPr>
          <p:spPr>
            <a:xfrm>
              <a:off x="778931" y="553056"/>
              <a:ext cx="9695538" cy="2031321"/>
            </a:xfrm>
            <a:prstGeom prst="rect">
              <a:avLst/>
            </a:prstGeom>
            <a:noFill/>
            <a:ln w="28575" cap="flat">
              <a:solidFill>
                <a:srgbClr val="8FAADC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Option 1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Hybrid: Gas + Wärmepumpe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Textfeld 6">
              <a:extLst>
                <a:ext uri="{FF2B5EF4-FFF2-40B4-BE49-F238E27FC236}">
                  <a16:creationId xmlns:a16="http://schemas.microsoft.com/office/drawing/2014/main" id="{D5C982D1-EDA0-9CE6-DDCC-3254B3378E0C}"/>
                </a:ext>
              </a:extLst>
            </p:cNvPr>
            <p:cNvSpPr txBox="1"/>
            <p:nvPr/>
          </p:nvSpPr>
          <p:spPr>
            <a:xfrm>
              <a:off x="862388" y="1362785"/>
              <a:ext cx="4435324" cy="923333"/>
            </a:xfrm>
            <a:prstGeom prst="rect">
              <a:avLst/>
            </a:prstGeom>
            <a:solidFill>
              <a:srgbClr val="C7DAB8"/>
            </a:solidFill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Pro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Gefördert (nach aktuellem Stand)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Unabhängigkeit von Gaspreisentwicklung</a:t>
              </a:r>
            </a:p>
          </p:txBody>
        </p:sp>
        <p:sp>
          <p:nvSpPr>
            <p:cNvPr id="5" name="Textfeld 7">
              <a:extLst>
                <a:ext uri="{FF2B5EF4-FFF2-40B4-BE49-F238E27FC236}">
                  <a16:creationId xmlns:a16="http://schemas.microsoft.com/office/drawing/2014/main" id="{BE827AD4-E5ED-BB7D-ED44-AE9871E67111}"/>
                </a:ext>
              </a:extLst>
            </p:cNvPr>
            <p:cNvSpPr txBox="1"/>
            <p:nvPr/>
          </p:nvSpPr>
          <p:spPr>
            <a:xfrm>
              <a:off x="5454953" y="1362785"/>
              <a:ext cx="4435324" cy="1200332"/>
            </a:xfrm>
            <a:prstGeom prst="rect">
              <a:avLst/>
            </a:prstGeom>
            <a:solidFill>
              <a:srgbClr val="F9C3CD"/>
            </a:solidFill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Con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50-80 Dezibel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Weniger Platz im Hof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Rutschgefahr im Winter</a:t>
              </a:r>
            </a:p>
          </p:txBody>
        </p:sp>
      </p:grp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AB6288DD-8ACD-8B98-12FE-412C34C85F71}"/>
              </a:ext>
            </a:extLst>
          </p:cNvPr>
          <p:cNvGrpSpPr/>
          <p:nvPr/>
        </p:nvGrpSpPr>
        <p:grpSpPr>
          <a:xfrm>
            <a:off x="778931" y="2935851"/>
            <a:ext cx="9695538" cy="2590629"/>
            <a:chOff x="778931" y="3034463"/>
            <a:chExt cx="9695538" cy="1728913"/>
          </a:xfrm>
        </p:grpSpPr>
        <p:sp>
          <p:nvSpPr>
            <p:cNvPr id="7" name="Textfeld 2">
              <a:extLst>
                <a:ext uri="{FF2B5EF4-FFF2-40B4-BE49-F238E27FC236}">
                  <a16:creationId xmlns:a16="http://schemas.microsoft.com/office/drawing/2014/main" id="{B92BF39C-6AFE-7365-530B-C69EE3FC3752}"/>
                </a:ext>
              </a:extLst>
            </p:cNvPr>
            <p:cNvSpPr txBox="1"/>
            <p:nvPr/>
          </p:nvSpPr>
          <p:spPr>
            <a:xfrm>
              <a:off x="778931" y="3034463"/>
              <a:ext cx="9695538" cy="1477332"/>
            </a:xfrm>
            <a:prstGeom prst="rect">
              <a:avLst/>
            </a:prstGeom>
            <a:noFill/>
            <a:ln w="28575" cap="flat">
              <a:solidFill>
                <a:srgbClr val="7030A0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Option 2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Gas (+ in ca. 5 Jahren Fernwärme)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Textfeld 9">
              <a:extLst>
                <a:ext uri="{FF2B5EF4-FFF2-40B4-BE49-F238E27FC236}">
                  <a16:creationId xmlns:a16="http://schemas.microsoft.com/office/drawing/2014/main" id="{13B7C345-760E-372A-3E1A-293597FA1058}"/>
                </a:ext>
              </a:extLst>
            </p:cNvPr>
            <p:cNvSpPr txBox="1"/>
            <p:nvPr/>
          </p:nvSpPr>
          <p:spPr>
            <a:xfrm>
              <a:off x="862388" y="3563044"/>
              <a:ext cx="4435324" cy="1200332"/>
            </a:xfrm>
            <a:prstGeom prst="rect">
              <a:avLst/>
            </a:prstGeom>
            <a:solidFill>
              <a:srgbClr val="C7DAB8"/>
            </a:solidFill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Pro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Schnelle Montage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Geringe Investionskosten</a:t>
              </a:r>
            </a:p>
            <a:p>
              <a:pPr marL="285750" marR="0" lvl="0" indent="-28575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Char char="-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Hof beleibt frei</a:t>
              </a:r>
            </a:p>
          </p:txBody>
        </p:sp>
        <p:sp>
          <p:nvSpPr>
            <p:cNvPr id="9" name="Textfeld 10">
              <a:extLst>
                <a:ext uri="{FF2B5EF4-FFF2-40B4-BE49-F238E27FC236}">
                  <a16:creationId xmlns:a16="http://schemas.microsoft.com/office/drawing/2014/main" id="{BAFBB60B-7FF0-2908-65E1-CC979F57D74E}"/>
                </a:ext>
              </a:extLst>
            </p:cNvPr>
            <p:cNvSpPr txBox="1"/>
            <p:nvPr/>
          </p:nvSpPr>
          <p:spPr>
            <a:xfrm>
              <a:off x="5454953" y="3512880"/>
              <a:ext cx="4435324" cy="646334"/>
            </a:xfrm>
            <a:prstGeom prst="rect">
              <a:avLst/>
            </a:prstGeom>
            <a:solidFill>
              <a:srgbClr val="F9C3CD"/>
            </a:solidFill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Con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de-DE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- teuer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D3560E-D3C8-3A99-2407-ADEDC069F11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/>
              <a:t>Links</a:t>
            </a:r>
          </a:p>
        </p:txBody>
      </p:sp>
      <p:cxnSp>
        <p:nvCxnSpPr>
          <p:cNvPr id="3" name="Gerader Verbinder 3">
            <a:extLst>
              <a:ext uri="{FF2B5EF4-FFF2-40B4-BE49-F238E27FC236}">
                <a16:creationId xmlns:a16="http://schemas.microsoft.com/office/drawing/2014/main" id="{3C19BB67-E3D5-5CCE-1A5C-34AD98020775}"/>
              </a:ext>
            </a:extLst>
          </p:cNvPr>
          <p:cNvCxnSpPr/>
          <p:nvPr/>
        </p:nvCxnSpPr>
        <p:spPr>
          <a:xfrm>
            <a:off x="754745" y="1372807"/>
            <a:ext cx="4736492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prstDash val="solid"/>
            <a:miter/>
          </a:ln>
        </p:spPr>
      </p:cxnSp>
      <p:cxnSp>
        <p:nvCxnSpPr>
          <p:cNvPr id="4" name="Gerader Verbinder 5">
            <a:extLst>
              <a:ext uri="{FF2B5EF4-FFF2-40B4-BE49-F238E27FC236}">
                <a16:creationId xmlns:a16="http://schemas.microsoft.com/office/drawing/2014/main" id="{0AD5A161-AFCC-E5A8-62D7-30E6991BEFD6}"/>
              </a:ext>
            </a:extLst>
          </p:cNvPr>
          <p:cNvCxnSpPr/>
          <p:nvPr/>
        </p:nvCxnSpPr>
        <p:spPr>
          <a:xfrm>
            <a:off x="5430758" y="1372807"/>
            <a:ext cx="2402120" cy="0"/>
          </a:xfrm>
          <a:prstGeom prst="straightConnector1">
            <a:avLst/>
          </a:prstGeom>
          <a:noFill/>
          <a:ln w="12701" cap="flat">
            <a:solidFill>
              <a:srgbClr val="C00000"/>
            </a:solidFill>
            <a:custDash>
              <a:ds d="799921" sp="799921"/>
            </a:custDash>
            <a:miter/>
          </a:ln>
        </p:spPr>
      </p:cxnSp>
      <p:sp>
        <p:nvSpPr>
          <p:cNvPr id="5" name="Textfeld 8">
            <a:extLst>
              <a:ext uri="{FF2B5EF4-FFF2-40B4-BE49-F238E27FC236}">
                <a16:creationId xmlns:a16="http://schemas.microsoft.com/office/drawing/2014/main" id="{B5D411F1-5DBC-ABF5-34E1-8D437D61216F}"/>
              </a:ext>
            </a:extLst>
          </p:cNvPr>
          <p:cNvSpPr txBox="1"/>
          <p:nvPr/>
        </p:nvSpPr>
        <p:spPr>
          <a:xfrm>
            <a:off x="1103086" y="1839909"/>
            <a:ext cx="924559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https://www.mainova.de/de/ihre-mainova/ueber-uns/waerme-stromversorgung/fernwaerme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Breitbild</PresentationFormat>
  <Paragraphs>129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</vt:lpstr>
      <vt:lpstr>Heizungstausch 2026/27  Hausprojekt Fritze</vt:lpstr>
      <vt:lpstr>Aktuelle Situation</vt:lpstr>
      <vt:lpstr>Schnelle Lösung für den Winter 2026</vt:lpstr>
      <vt:lpstr>Schnelle Lösung für den Winter 2026</vt:lpstr>
      <vt:lpstr>Langfristige Lösung: 2 Optionen</vt:lpstr>
      <vt:lpstr>Lösung: Option 1 Hybrid Gas + Wärmepumpe </vt:lpstr>
      <vt:lpstr>PowerPoint-Präsentation</vt:lpstr>
      <vt:lpstr>PowerPoint-Präsentation</vt:lpstr>
      <vt:lpstr>Lösung: Option 2: Gas (+ in ca. 5 Jahren Fernwärme)  </vt:lpstr>
      <vt:lpstr>PowerPoint-Präsentation</vt:lpstr>
      <vt:lpstr>PowerPoint-Präsentation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Susanne Katzenmaier</dc:creator>
  <cp:lastModifiedBy>Fritze Frankfurt</cp:lastModifiedBy>
  <cp:revision>3</cp:revision>
  <dcterms:created xsi:type="dcterms:W3CDTF">2026-09-27T16:52:28Z</dcterms:created>
  <dcterms:modified xsi:type="dcterms:W3CDTF">2026-10-02T12:08:32Z</dcterms:modified>
</cp:coreProperties>
</file>